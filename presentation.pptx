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Augmentation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Type I
(Very Light)</c:v>
                  </c:pt>
                  <c:pt idx="1">
                    <c:v>Type II
(Light)</c:v>
                  </c:pt>
                  <c:pt idx="2">
                    <c:v>Type III
(Medium)</c:v>
                  </c:pt>
                  <c:pt idx="3">
                    <c:v>Type IV
(Olive)</c:v>
                  </c:pt>
                  <c:pt idx="4">
                    <c:v>Type V
(Brown)</c:v>
                  </c:pt>
                  <c:pt idx="5">
                    <c:v>Type VI
(Dark)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81</c:v>
                </c:pt>
                <c:pt idx="2">
                  <c:v>73</c:v>
                </c:pt>
                <c:pt idx="3">
                  <c:v>62</c:v>
                </c:pt>
                <c:pt idx="4">
                  <c:v>54</c:v>
                </c:pt>
                <c:pt idx="5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Augmentation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Type I
(Very Light)</c:v>
                  </c:pt>
                  <c:pt idx="1">
                    <c:v>Type II
(Light)</c:v>
                  </c:pt>
                  <c:pt idx="2">
                    <c:v>Type III
(Medium)</c:v>
                  </c:pt>
                  <c:pt idx="3">
                    <c:v>Type IV
(Olive)</c:v>
                  </c:pt>
                  <c:pt idx="4">
                    <c:v>Type V
(Brown)</c:v>
                  </c:pt>
                  <c:pt idx="5">
                    <c:v>Type VI
(Dark)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83</c:v>
                </c:pt>
                <c:pt idx="1">
                  <c:v>82</c:v>
                </c:pt>
                <c:pt idx="2">
                  <c:v>78</c:v>
                </c:pt>
                <c:pt idx="3">
                  <c:v>74</c:v>
                </c:pt>
                <c:pt idx="4">
                  <c:v>70</c:v>
                </c:pt>
                <c:pt idx="5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B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B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 Lesion Robustness Analyzer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Dermatology AI via Transfer Learning and Targeted Augmentation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62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540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Hackathon  |  May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457200"/>
            <a:ext cx="1371600" cy="1371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45920"/>
            <a:ext cx="731520" cy="731520"/>
          </a:xfrm>
          <a:prstGeom prst="ellipse">
            <a:avLst/>
          </a:prstGeom>
          <a:solidFill>
            <a:srgbClr val="EA580C">
              <a:alpha val="30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200400" cy="4114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gap between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and darkest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731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happens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132588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16550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10,015 dermoscopy images skewed toward Fitzpatrick Types I-III (light skin)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0" y="242316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skin-tone labels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27523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without fairness signals optimize for majority group accuracy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0" y="352044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38496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Misdiagnosis risk is highest for patients who are already underserved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31920" y="4434840"/>
            <a:ext cx="493776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4434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accuracy: 84%   vs   Type VI accuracy: 47%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Pre-Trained Model + Transfer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Vision Transformer (ViT-base-patch16-224)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162B5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ImageNet-21k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million images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universal visual features: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textures, shapes, patches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162B5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HAM10000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10,015 dermoscopy images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lesion classes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 only updated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accuracy: 96.95%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434840" y="2788920"/>
            <a:ext cx="2286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ViT? Patch-based attention captures localized dermoscopic patterns (lesion borders, texture irregularities) that CNNs can miss.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 Techniques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real-world variation this classifier must handle: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170432"/>
            <a:ext cx="155448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SkinToneShift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44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manipulation to simulate Fitzpatrick Types I-VI. Directly addresses training data imbalance across skin tones.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10512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975104"/>
            <a:ext cx="155448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975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HairArtifact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dark line overlays mimicking dermoscope hair occlusion - the most common real-world artifact.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15184"/>
            <a:ext cx="54864" cy="7132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2779776"/>
            <a:ext cx="1554480" cy="274320"/>
          </a:xfrm>
          <a:prstGeom prst="rect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7797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VignetteEffect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2953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gradient simulating contact dermoscope lighting variation at the image boundary.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19856"/>
            <a:ext cx="54864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3584448"/>
            <a:ext cx="1554480" cy="274320"/>
          </a:xfrm>
          <a:prstGeom prst="rect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GaussianNoise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7581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 and JPEG compression artifacts that vary by clinical camera hardware.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24528"/>
            <a:ext cx="54864" cy="71323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4389120"/>
            <a:ext cx="1554480" cy="274320"/>
          </a:xfrm>
          <a:prstGeom prst="rect">
            <a:avLst/>
          </a:prstGeom>
          <a:solidFill>
            <a:srgbClr val="BE123C">
              <a:alpha val="15000"/>
            </a:srgbClr>
          </a:solidFill>
          <a:ln w="12700">
            <a:solidFill>
              <a:srgbClr val="BE123C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FocusBlur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45628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for focus variation - common in non-ideal clinical photography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1371600"/>
          </a:xfrm>
          <a:prstGeom prst="rect">
            <a:avLst/>
          </a:prstGeom>
          <a:solidFill>
            <a:srgbClr val="162B5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Val Accuracy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on HAM10000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solidFill>
            <a:srgbClr val="162B5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685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37pp→15pp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Gap Reduced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vs Type VI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640080"/>
            <a:ext cx="2743200" cy="1371600"/>
          </a:xfrm>
          <a:prstGeom prst="rect">
            <a:avLst/>
          </a:prstGeom>
          <a:solidFill>
            <a:srgbClr val="162B50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685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Reduction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augmentation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148840"/>
          <a:ext cx="8595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+ Deployment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demo shows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Upload any dermoscopy image or pick a synthetic sample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ViT inference with 10-view augmented ensemble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Augmentation grid: see how the model sees your image across skin tones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Confidence comparison: original vs. ensemble 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Fairness chart: per-skin-tone accuracy before and after augmentation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594360"/>
            <a:ext cx="356616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731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8013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1801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4.x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3682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3682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3.11.9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29352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935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ViT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3502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5021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jaideep-aher/hack_skin2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4251960"/>
            <a:ext cx="35661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4251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 →  localhost:7860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Robustness Analyzer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github.com/jaideep-aher/hack_skin2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3410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Anwarkh1/Skin_Cancer-Image_Classification (HuggingFace)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758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HAM10000 (Tschandl et al., ISIC 2018)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Jaideep Aher  |  Duke AIPI  |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Lesion Robustness Analyzer</dc:title>
  <dc:subject>PptxGenJS Presentation</dc:subject>
  <dc:creator>Jaideep Aher</dc:creator>
  <cp:lastModifiedBy>Jaideep Aher</cp:lastModifiedBy>
  <cp:revision>1</cp:revision>
  <dcterms:created xsi:type="dcterms:W3CDTF">2026-05-27T22:35:45Z</dcterms:created>
  <dcterms:modified xsi:type="dcterms:W3CDTF">2026-05-27T22:35:45Z</dcterms:modified>
</cp:coreProperties>
</file>